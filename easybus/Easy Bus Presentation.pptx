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T Fors Bold" charset="1" panose="020B0003030001020000"/>
      <p:regular r:id="rId15"/>
    </p:embeddedFont>
    <p:embeddedFont>
      <p:font typeface="TT Fors" charset="1" panose="020B000303000102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3690625" y="3170898"/>
            <a:ext cx="9932838" cy="2496834"/>
          </a:xfrm>
          <a:prstGeom prst="rect">
            <a:avLst/>
          </a:prstGeom>
        </p:spPr>
        <p:txBody>
          <a:bodyPr anchor="t" rtlCol="false" tIns="0" lIns="0" bIns="0" rIns="0">
            <a:spAutoFit/>
          </a:bodyPr>
          <a:lstStyle/>
          <a:p>
            <a:pPr algn="ctr" marL="0" indent="0" lvl="0">
              <a:lnSpc>
                <a:spcPts val="10069"/>
              </a:lnSpc>
            </a:pPr>
            <a:r>
              <a:rPr lang="en-US" b="true" sz="6944">
                <a:solidFill>
                  <a:srgbClr val="3A73AE"/>
                </a:solidFill>
                <a:latin typeface="TT Fors Bold"/>
                <a:ea typeface="TT Fors Bold"/>
                <a:cs typeface="TT Fors Bold"/>
                <a:sym typeface="TT Fors Bold"/>
              </a:rPr>
              <a:t>EASY BUS COMMUNAL</a:t>
            </a:r>
          </a:p>
        </p:txBody>
      </p:sp>
      <p:sp>
        <p:nvSpPr>
          <p:cNvPr name="TextBox 30" id="30"/>
          <p:cNvSpPr txBox="true"/>
          <p:nvPr/>
        </p:nvSpPr>
        <p:spPr>
          <a:xfrm rot="0">
            <a:off x="5520105" y="6946764"/>
            <a:ext cx="6536864" cy="619125"/>
          </a:xfrm>
          <a:prstGeom prst="rect">
            <a:avLst/>
          </a:prstGeom>
        </p:spPr>
        <p:txBody>
          <a:bodyPr anchor="t" rtlCol="false" tIns="0" lIns="0" bIns="0" rIns="0">
            <a:spAutoFit/>
          </a:bodyPr>
          <a:lstStyle/>
          <a:p>
            <a:pPr algn="ctr">
              <a:lnSpc>
                <a:spcPts val="5249"/>
              </a:lnSpc>
            </a:pPr>
            <a:r>
              <a:rPr lang="en-US" sz="3499">
                <a:solidFill>
                  <a:srgbClr val="0F1C29"/>
                </a:solidFill>
                <a:latin typeface="TT Fors"/>
                <a:ea typeface="TT Fors"/>
                <a:cs typeface="TT Fors"/>
                <a:sym typeface="TT Fors"/>
              </a:rPr>
              <a:t>by Aidan Ghirawoo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559706"/>
            <a:ext cx="15922990" cy="132391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INTRODUCTION</a:t>
            </a:r>
          </a:p>
        </p:txBody>
      </p:sp>
      <p:sp>
        <p:nvSpPr>
          <p:cNvPr name="TextBox 30" id="30"/>
          <p:cNvSpPr txBox="true"/>
          <p:nvPr/>
        </p:nvSpPr>
        <p:spPr>
          <a:xfrm rot="0">
            <a:off x="3187126" y="2792448"/>
            <a:ext cx="12123689" cy="5105400"/>
          </a:xfrm>
          <a:prstGeom prst="rect">
            <a:avLst/>
          </a:prstGeom>
        </p:spPr>
        <p:txBody>
          <a:bodyPr anchor="t" rtlCol="false" tIns="0" lIns="0" bIns="0" rIns="0">
            <a:spAutoFit/>
          </a:bodyPr>
          <a:lstStyle/>
          <a:p>
            <a:pPr algn="ctr">
              <a:lnSpc>
                <a:spcPts val="4499"/>
              </a:lnSpc>
            </a:pPr>
            <a:r>
              <a:rPr lang="en-US" sz="2999">
                <a:solidFill>
                  <a:srgbClr val="0F1C29"/>
                </a:solidFill>
                <a:latin typeface="TT Fors"/>
                <a:ea typeface="TT Fors"/>
                <a:cs typeface="TT Fors"/>
                <a:sym typeface="TT Fors"/>
              </a:rPr>
              <a:t> Easy Bus Commute Web Application is a project  that was designed to improve communication between commuters and bus drivers by allowing commuters to send requests and drivers to respond in real time.</a:t>
            </a:r>
          </a:p>
          <a:p>
            <a:pPr algn="ctr">
              <a:lnSpc>
                <a:spcPts val="4499"/>
              </a:lnSpc>
            </a:pPr>
            <a:r>
              <a:rPr lang="en-US" sz="2999">
                <a:solidFill>
                  <a:srgbClr val="0F1C29"/>
                </a:solidFill>
                <a:latin typeface="TT Fors"/>
                <a:ea typeface="TT Fors"/>
                <a:cs typeface="TT Fors"/>
                <a:sym typeface="TT Fors"/>
              </a:rPr>
              <a:t>The system was built using HTML, CSS, PHP, and MySQL to create a simple and user-friendly platform. In this presentation, I will explain the features of the application, how it works, and the benefits it provides also any future imropovements that could be implemented.</a:t>
            </a:r>
          </a:p>
          <a:p>
            <a:pPr algn="ctr">
              <a:lnSpc>
                <a:spcPts val="44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1927941"/>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BENEFITS</a:t>
            </a:r>
          </a:p>
        </p:txBody>
      </p:sp>
      <p:sp>
        <p:nvSpPr>
          <p:cNvPr name="TextBox 30" id="30"/>
          <p:cNvSpPr txBox="true"/>
          <p:nvPr/>
        </p:nvSpPr>
        <p:spPr>
          <a:xfrm rot="0">
            <a:off x="2901528" y="3156666"/>
            <a:ext cx="9866368" cy="6288409"/>
          </a:xfrm>
          <a:prstGeom prst="rect">
            <a:avLst/>
          </a:prstGeom>
        </p:spPr>
        <p:txBody>
          <a:bodyPr anchor="t" rtlCol="false" tIns="0" lIns="0" bIns="0" rIns="0">
            <a:spAutoFit/>
          </a:bodyPr>
          <a:lstStyle/>
          <a:p>
            <a:pPr algn="l" marL="723086" indent="-361543" lvl="1">
              <a:lnSpc>
                <a:spcPts val="5023"/>
              </a:lnSpc>
              <a:buFont typeface="Arial"/>
              <a:buChar char="•"/>
            </a:pPr>
            <a:r>
              <a:rPr lang="en-US" sz="3349">
                <a:solidFill>
                  <a:srgbClr val="0F1C29"/>
                </a:solidFill>
                <a:latin typeface="TT Fors"/>
                <a:ea typeface="TT Fors"/>
                <a:cs typeface="TT Fors"/>
                <a:sym typeface="TT Fors"/>
              </a:rPr>
              <a:t>Improves Communication Between Commuter and Driver</a:t>
            </a:r>
          </a:p>
          <a:p>
            <a:pPr algn="l" marL="723086" indent="-361543" lvl="1">
              <a:lnSpc>
                <a:spcPts val="5023"/>
              </a:lnSpc>
              <a:buFont typeface="Arial"/>
              <a:buChar char="•"/>
            </a:pPr>
            <a:r>
              <a:rPr lang="en-US" sz="3349" u="none">
                <a:solidFill>
                  <a:srgbClr val="0F1C29"/>
                </a:solidFill>
                <a:latin typeface="TT Fors"/>
                <a:ea typeface="TT Fors"/>
                <a:cs typeface="TT Fors"/>
                <a:sym typeface="TT Fors"/>
              </a:rPr>
              <a:t>Reduces confusion and waiting time with the request feature</a:t>
            </a:r>
          </a:p>
          <a:p>
            <a:pPr algn="l" marL="723086" indent="-361543" lvl="1">
              <a:lnSpc>
                <a:spcPts val="5023"/>
              </a:lnSpc>
              <a:buFont typeface="Arial"/>
              <a:buChar char="•"/>
            </a:pPr>
            <a:r>
              <a:rPr lang="en-US" sz="3349" u="none">
                <a:solidFill>
                  <a:srgbClr val="0F1C29"/>
                </a:solidFill>
                <a:latin typeface="TT Fors"/>
                <a:ea typeface="TT Fors"/>
                <a:cs typeface="TT Fors"/>
                <a:sym typeface="TT Fors"/>
              </a:rPr>
              <a:t>Simple and easy to use</a:t>
            </a:r>
          </a:p>
          <a:p>
            <a:pPr algn="l" marL="723086" indent="-361543" lvl="1">
              <a:lnSpc>
                <a:spcPts val="5023"/>
              </a:lnSpc>
              <a:buFont typeface="Arial"/>
              <a:buChar char="•"/>
            </a:pPr>
            <a:r>
              <a:rPr lang="en-US" sz="3349" u="none">
                <a:solidFill>
                  <a:srgbClr val="0F1C29"/>
                </a:solidFill>
                <a:latin typeface="TT Fors"/>
                <a:ea typeface="TT Fors"/>
                <a:cs typeface="TT Fors"/>
                <a:sym typeface="TT Fors"/>
              </a:rPr>
              <a:t>Makes transportation management more organized and efficient</a:t>
            </a:r>
          </a:p>
          <a:p>
            <a:pPr algn="l" marL="723086" indent="-361543" lvl="1">
              <a:lnSpc>
                <a:spcPts val="5023"/>
              </a:lnSpc>
              <a:buFont typeface="Arial"/>
              <a:buChar char="•"/>
            </a:pPr>
            <a:r>
              <a:rPr lang="en-US" sz="3349" u="none">
                <a:solidFill>
                  <a:srgbClr val="0F1C29"/>
                </a:solidFill>
                <a:latin typeface="TT Fors"/>
                <a:ea typeface="TT Fors"/>
                <a:cs typeface="TT Fors"/>
                <a:sym typeface="TT Fors"/>
              </a:rPr>
              <a:t>Provides a faster and more convenient system for users</a:t>
            </a:r>
          </a:p>
          <a:p>
            <a:pPr algn="l">
              <a:lnSpc>
                <a:spcPts val="450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028700" y="559677"/>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FEATURES</a:t>
            </a:r>
          </a:p>
        </p:txBody>
      </p:sp>
      <p:sp>
        <p:nvSpPr>
          <p:cNvPr name="TextBox 30" id="30"/>
          <p:cNvSpPr txBox="true"/>
          <p:nvPr/>
        </p:nvSpPr>
        <p:spPr>
          <a:xfrm rot="0">
            <a:off x="5290370" y="2098902"/>
            <a:ext cx="9923998" cy="2819400"/>
          </a:xfrm>
          <a:prstGeom prst="rect">
            <a:avLst/>
          </a:prstGeom>
        </p:spPr>
        <p:txBody>
          <a:bodyPr anchor="t" rtlCol="false" tIns="0" lIns="0" bIns="0" rIns="0">
            <a:spAutoFit/>
          </a:bodyPr>
          <a:lstStyle/>
          <a:p>
            <a:pPr algn="l">
              <a:lnSpc>
                <a:spcPts val="4499"/>
              </a:lnSpc>
            </a:pPr>
            <a:r>
              <a:rPr lang="en-US" sz="2999">
                <a:solidFill>
                  <a:srgbClr val="0F1C29"/>
                </a:solidFill>
                <a:latin typeface="TT Fors"/>
                <a:ea typeface="TT Fors"/>
                <a:cs typeface="TT Fors"/>
                <a:sym typeface="TT Fors"/>
              </a:rPr>
              <a:t>Login and Signup- You first signup by creating your username and password and choosing your role,this is then stored in the database’s tables and for better security your password is hashed before being entered into the database.</a:t>
            </a:r>
          </a:p>
        </p:txBody>
      </p:sp>
      <p:sp>
        <p:nvSpPr>
          <p:cNvPr name="TextBox 31" id="31"/>
          <p:cNvSpPr txBox="true"/>
          <p:nvPr/>
        </p:nvSpPr>
        <p:spPr>
          <a:xfrm rot="0">
            <a:off x="3073633" y="2116203"/>
            <a:ext cx="2013062" cy="132391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01.</a:t>
            </a:r>
          </a:p>
        </p:txBody>
      </p:sp>
      <p:sp>
        <p:nvSpPr>
          <p:cNvPr name="TextBox 32" id="32"/>
          <p:cNvSpPr txBox="true"/>
          <p:nvPr/>
        </p:nvSpPr>
        <p:spPr>
          <a:xfrm rot="0">
            <a:off x="5290370" y="5586019"/>
            <a:ext cx="9923998" cy="2819400"/>
          </a:xfrm>
          <a:prstGeom prst="rect">
            <a:avLst/>
          </a:prstGeom>
        </p:spPr>
        <p:txBody>
          <a:bodyPr anchor="t" rtlCol="false" tIns="0" lIns="0" bIns="0" rIns="0">
            <a:spAutoFit/>
          </a:bodyPr>
          <a:lstStyle/>
          <a:p>
            <a:pPr algn="l">
              <a:lnSpc>
                <a:spcPts val="4499"/>
              </a:lnSpc>
            </a:pPr>
            <a:r>
              <a:rPr lang="en-US" sz="2999">
                <a:solidFill>
                  <a:srgbClr val="0F1C29"/>
                </a:solidFill>
                <a:latin typeface="TT Fors"/>
                <a:ea typeface="TT Fors"/>
                <a:cs typeface="TT Fors"/>
                <a:sym typeface="TT Fors"/>
              </a:rPr>
              <a:t>Request Buses-The way this feature works is that first a commuter must request a bus and then it is stored into table called requests,and the amount of requests are sent to the driver,tho it must be five or more requests before the driver can accept it and finish it.</a:t>
            </a:r>
          </a:p>
        </p:txBody>
      </p:sp>
      <p:sp>
        <p:nvSpPr>
          <p:cNvPr name="TextBox 33" id="33"/>
          <p:cNvSpPr txBox="true"/>
          <p:nvPr/>
        </p:nvSpPr>
        <p:spPr>
          <a:xfrm rot="0">
            <a:off x="3277307" y="5411337"/>
            <a:ext cx="2013062" cy="132391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845000" y="4639364"/>
            <a:ext cx="4512710" cy="3980779"/>
          </a:xfrm>
          <a:prstGeom prst="rect">
            <a:avLst/>
          </a:prstGeom>
        </p:spPr>
        <p:txBody>
          <a:bodyPr anchor="t" rtlCol="false" tIns="0" lIns="0" bIns="0" rIns="0">
            <a:spAutoFit/>
          </a:bodyPr>
          <a:lstStyle/>
          <a:p>
            <a:pPr algn="l">
              <a:lnSpc>
                <a:spcPts val="3941"/>
              </a:lnSpc>
            </a:pPr>
            <a:r>
              <a:rPr lang="en-US" sz="2627">
                <a:solidFill>
                  <a:srgbClr val="0F1C29"/>
                </a:solidFill>
                <a:latin typeface="TT Fors"/>
                <a:ea typeface="TT Fors"/>
                <a:cs typeface="TT Fors"/>
                <a:sym typeface="TT Fors"/>
              </a:rPr>
              <a:t>Estimated arrival-This works by checking if any drivers are counted as available in the driver table in the database if they are the page displays one estimated time if not they display another estimated time</a:t>
            </a:r>
          </a:p>
        </p:txBody>
      </p:sp>
      <p:sp>
        <p:nvSpPr>
          <p:cNvPr name="TextBox 30" id="30"/>
          <p:cNvSpPr txBox="true"/>
          <p:nvPr/>
        </p:nvSpPr>
        <p:spPr>
          <a:xfrm rot="0">
            <a:off x="1845000" y="3451181"/>
            <a:ext cx="1387615" cy="1172624"/>
          </a:xfrm>
          <a:prstGeom prst="rect">
            <a:avLst/>
          </a:prstGeom>
        </p:spPr>
        <p:txBody>
          <a:bodyPr anchor="t" rtlCol="false" tIns="0" lIns="0" bIns="0" rIns="0">
            <a:spAutoFit/>
          </a:bodyPr>
          <a:lstStyle/>
          <a:p>
            <a:pPr algn="l" marL="0" indent="0" lvl="0">
              <a:lnSpc>
                <a:spcPts val="9525"/>
              </a:lnSpc>
            </a:pPr>
            <a:r>
              <a:rPr lang="en-US" b="true" sz="6569">
                <a:solidFill>
                  <a:srgbClr val="3A73AE"/>
                </a:solidFill>
                <a:latin typeface="TT Fors Bold"/>
                <a:ea typeface="TT Fors Bold"/>
                <a:cs typeface="TT Fors Bold"/>
                <a:sym typeface="TT Fors Bold"/>
              </a:rPr>
              <a:t>03.</a:t>
            </a:r>
          </a:p>
        </p:txBody>
      </p:sp>
      <p:sp>
        <p:nvSpPr>
          <p:cNvPr name="TextBox 31" id="31"/>
          <p:cNvSpPr txBox="true"/>
          <p:nvPr/>
        </p:nvSpPr>
        <p:spPr>
          <a:xfrm rot="0">
            <a:off x="10696561" y="4639364"/>
            <a:ext cx="4512710" cy="3480192"/>
          </a:xfrm>
          <a:prstGeom prst="rect">
            <a:avLst/>
          </a:prstGeom>
        </p:spPr>
        <p:txBody>
          <a:bodyPr anchor="t" rtlCol="false" tIns="0" lIns="0" bIns="0" rIns="0">
            <a:spAutoFit/>
          </a:bodyPr>
          <a:lstStyle/>
          <a:p>
            <a:pPr algn="l">
              <a:lnSpc>
                <a:spcPts val="3941"/>
              </a:lnSpc>
            </a:pPr>
            <a:r>
              <a:rPr lang="en-US" sz="2627">
                <a:solidFill>
                  <a:srgbClr val="0F1C29"/>
                </a:solidFill>
                <a:latin typeface="TT Fors"/>
                <a:ea typeface="TT Fors"/>
                <a:cs typeface="TT Fors"/>
                <a:sym typeface="TT Fors"/>
              </a:rPr>
              <a:t>Heat Map- This is a map of the campus and it highlights where is the most crowded areas and where should u wait for bus,there is also a downloadable version for offline viewing</a:t>
            </a:r>
          </a:p>
        </p:txBody>
      </p:sp>
      <p:sp>
        <p:nvSpPr>
          <p:cNvPr name="TextBox 32" id="32"/>
          <p:cNvSpPr txBox="true"/>
          <p:nvPr/>
        </p:nvSpPr>
        <p:spPr>
          <a:xfrm rot="0">
            <a:off x="10516612" y="3542992"/>
            <a:ext cx="1387615" cy="1172624"/>
          </a:xfrm>
          <a:prstGeom prst="rect">
            <a:avLst/>
          </a:prstGeom>
        </p:spPr>
        <p:txBody>
          <a:bodyPr anchor="t" rtlCol="false" tIns="0" lIns="0" bIns="0" rIns="0">
            <a:spAutoFit/>
          </a:bodyPr>
          <a:lstStyle/>
          <a:p>
            <a:pPr algn="l" marL="0" indent="0" lvl="0">
              <a:lnSpc>
                <a:spcPts val="9525"/>
              </a:lnSpc>
            </a:pPr>
            <a:r>
              <a:rPr lang="en-US" b="true" sz="6569">
                <a:solidFill>
                  <a:srgbClr val="3A73AE"/>
                </a:solidFill>
                <a:latin typeface="TT Fors Bold"/>
                <a:ea typeface="TT Fors Bold"/>
                <a:cs typeface="TT Fors Bold"/>
                <a:sym typeface="TT Fors 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9" id="29"/>
          <p:cNvSpPr/>
          <p:nvPr/>
        </p:nvSpPr>
        <p:spPr>
          <a:xfrm flipH="false" flipV="false" rot="0">
            <a:off x="8812470" y="3751245"/>
            <a:ext cx="663060" cy="663060"/>
          </a:xfrm>
          <a:custGeom>
            <a:avLst/>
            <a:gdLst/>
            <a:ahLst/>
            <a:cxnLst/>
            <a:rect r="r" b="b" t="t" l="l"/>
            <a:pathLst>
              <a:path h="663060" w="663060">
                <a:moveTo>
                  <a:pt x="0" y="0"/>
                </a:moveTo>
                <a:lnTo>
                  <a:pt x="663060" y="0"/>
                </a:lnTo>
                <a:lnTo>
                  <a:pt x="663060" y="663060"/>
                </a:lnTo>
                <a:lnTo>
                  <a:pt x="0" y="6630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false" flipV="false" rot="0">
            <a:off x="4131655" y="3791688"/>
            <a:ext cx="663060" cy="663060"/>
          </a:xfrm>
          <a:custGeom>
            <a:avLst/>
            <a:gdLst/>
            <a:ahLst/>
            <a:cxnLst/>
            <a:rect r="r" b="b" t="t" l="l"/>
            <a:pathLst>
              <a:path h="663060" w="663060">
                <a:moveTo>
                  <a:pt x="0" y="0"/>
                </a:moveTo>
                <a:lnTo>
                  <a:pt x="663060" y="0"/>
                </a:lnTo>
                <a:lnTo>
                  <a:pt x="663060" y="663060"/>
                </a:lnTo>
                <a:lnTo>
                  <a:pt x="0" y="6630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1" id="31"/>
          <p:cNvSpPr/>
          <p:nvPr/>
        </p:nvSpPr>
        <p:spPr>
          <a:xfrm flipH="false" flipV="false" rot="0">
            <a:off x="13493285" y="3751245"/>
            <a:ext cx="663060" cy="663060"/>
          </a:xfrm>
          <a:custGeom>
            <a:avLst/>
            <a:gdLst/>
            <a:ahLst/>
            <a:cxnLst/>
            <a:rect r="r" b="b" t="t" l="l"/>
            <a:pathLst>
              <a:path h="663060" w="663060">
                <a:moveTo>
                  <a:pt x="0" y="0"/>
                </a:moveTo>
                <a:lnTo>
                  <a:pt x="663060" y="0"/>
                </a:lnTo>
                <a:lnTo>
                  <a:pt x="663060" y="663060"/>
                </a:lnTo>
                <a:lnTo>
                  <a:pt x="0" y="6630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2" id="32"/>
          <p:cNvSpPr txBox="true"/>
          <p:nvPr/>
        </p:nvSpPr>
        <p:spPr>
          <a:xfrm rot="0">
            <a:off x="1182505" y="1927941"/>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HOW THE SYSTEM WORKS</a:t>
            </a:r>
          </a:p>
        </p:txBody>
      </p:sp>
      <p:sp>
        <p:nvSpPr>
          <p:cNvPr name="TextBox 33" id="33"/>
          <p:cNvSpPr txBox="true"/>
          <p:nvPr/>
        </p:nvSpPr>
        <p:spPr>
          <a:xfrm rot="0">
            <a:off x="2672286" y="4692708"/>
            <a:ext cx="3581798" cy="1133475"/>
          </a:xfrm>
          <a:prstGeom prst="rect">
            <a:avLst/>
          </a:prstGeom>
        </p:spPr>
        <p:txBody>
          <a:bodyPr anchor="t" rtlCol="false" tIns="0" lIns="0" bIns="0" rIns="0">
            <a:spAutoFit/>
          </a:bodyPr>
          <a:lstStyle/>
          <a:p>
            <a:pPr algn="ctr">
              <a:lnSpc>
                <a:spcPts val="3000"/>
              </a:lnSpc>
            </a:pPr>
            <a:r>
              <a:rPr lang="en-US" sz="2000">
                <a:solidFill>
                  <a:srgbClr val="0F1C29"/>
                </a:solidFill>
                <a:latin typeface="TT Fors"/>
                <a:ea typeface="TT Fors"/>
                <a:cs typeface="TT Fors"/>
                <a:sym typeface="TT Fors"/>
              </a:rPr>
              <a:t>A Commuter and Driver Logs in and the c</a:t>
            </a:r>
            <a:r>
              <a:rPr lang="en-US" sz="2000">
                <a:solidFill>
                  <a:srgbClr val="0F1C29"/>
                </a:solidFill>
                <a:latin typeface="TT Fors"/>
                <a:ea typeface="TT Fors"/>
                <a:cs typeface="TT Fors"/>
                <a:sym typeface="TT Fors"/>
              </a:rPr>
              <a:t>ommuter sends a request.</a:t>
            </a:r>
          </a:p>
        </p:txBody>
      </p:sp>
      <p:sp>
        <p:nvSpPr>
          <p:cNvPr name="TextBox 34" id="34"/>
          <p:cNvSpPr txBox="true"/>
          <p:nvPr/>
        </p:nvSpPr>
        <p:spPr>
          <a:xfrm rot="0">
            <a:off x="7353101" y="4842930"/>
            <a:ext cx="3581798" cy="752475"/>
          </a:xfrm>
          <a:prstGeom prst="rect">
            <a:avLst/>
          </a:prstGeom>
        </p:spPr>
        <p:txBody>
          <a:bodyPr anchor="t" rtlCol="false" tIns="0" lIns="0" bIns="0" rIns="0">
            <a:spAutoFit/>
          </a:bodyPr>
          <a:lstStyle/>
          <a:p>
            <a:pPr algn="ctr">
              <a:lnSpc>
                <a:spcPts val="3000"/>
              </a:lnSpc>
            </a:pPr>
            <a:r>
              <a:rPr lang="en-US" sz="2000">
                <a:solidFill>
                  <a:srgbClr val="0F1C29"/>
                </a:solidFill>
                <a:latin typeface="TT Fors"/>
                <a:ea typeface="TT Fors"/>
                <a:cs typeface="TT Fors"/>
                <a:sym typeface="TT Fors"/>
              </a:rPr>
              <a:t>Driver Receives Request</a:t>
            </a:r>
          </a:p>
          <a:p>
            <a:pPr algn="ctr">
              <a:lnSpc>
                <a:spcPts val="3000"/>
              </a:lnSpc>
            </a:pPr>
            <a:r>
              <a:rPr lang="en-US" sz="2000">
                <a:solidFill>
                  <a:srgbClr val="0F1C29"/>
                </a:solidFill>
                <a:latin typeface="TT Fors"/>
                <a:ea typeface="TT Fors"/>
                <a:cs typeface="TT Fors"/>
                <a:sym typeface="TT Fors"/>
              </a:rPr>
              <a:t>Driver Accepts Request</a:t>
            </a:r>
          </a:p>
        </p:txBody>
      </p:sp>
      <p:sp>
        <p:nvSpPr>
          <p:cNvPr name="TextBox 35" id="35"/>
          <p:cNvSpPr txBox="true"/>
          <p:nvPr/>
        </p:nvSpPr>
        <p:spPr>
          <a:xfrm rot="0">
            <a:off x="12033916" y="4692708"/>
            <a:ext cx="3581798" cy="752475"/>
          </a:xfrm>
          <a:prstGeom prst="rect">
            <a:avLst/>
          </a:prstGeom>
        </p:spPr>
        <p:txBody>
          <a:bodyPr anchor="t" rtlCol="false" tIns="0" lIns="0" bIns="0" rIns="0">
            <a:spAutoFit/>
          </a:bodyPr>
          <a:lstStyle/>
          <a:p>
            <a:pPr algn="ctr">
              <a:lnSpc>
                <a:spcPts val="3000"/>
              </a:lnSpc>
            </a:pPr>
            <a:r>
              <a:rPr lang="en-US" sz="2000">
                <a:solidFill>
                  <a:srgbClr val="0F1C29"/>
                </a:solidFill>
                <a:latin typeface="TT Fors"/>
                <a:ea typeface="TT Fors"/>
                <a:cs typeface="TT Fors"/>
                <a:sym typeface="TT Fors"/>
              </a:rPr>
              <a:t>When it is done driver finishes the request </a:t>
            </a:r>
          </a:p>
        </p:txBody>
      </p:sp>
      <p:sp>
        <p:nvSpPr>
          <p:cNvPr name="Freeform 36" id="36"/>
          <p:cNvSpPr/>
          <p:nvPr/>
        </p:nvSpPr>
        <p:spPr>
          <a:xfrm flipH="false" flipV="false" rot="0">
            <a:off x="6435218" y="3921042"/>
            <a:ext cx="706012" cy="404352"/>
          </a:xfrm>
          <a:custGeom>
            <a:avLst/>
            <a:gdLst/>
            <a:ahLst/>
            <a:cxnLst/>
            <a:rect r="r" b="b" t="t" l="l"/>
            <a:pathLst>
              <a:path h="404352" w="706012">
                <a:moveTo>
                  <a:pt x="0" y="0"/>
                </a:moveTo>
                <a:lnTo>
                  <a:pt x="706012" y="0"/>
                </a:lnTo>
                <a:lnTo>
                  <a:pt x="706012" y="404352"/>
                </a:lnTo>
                <a:lnTo>
                  <a:pt x="0" y="4043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7" id="37"/>
          <p:cNvSpPr/>
          <p:nvPr/>
        </p:nvSpPr>
        <p:spPr>
          <a:xfrm flipH="false" flipV="false" rot="0">
            <a:off x="11146770" y="3921042"/>
            <a:ext cx="706012" cy="404352"/>
          </a:xfrm>
          <a:custGeom>
            <a:avLst/>
            <a:gdLst/>
            <a:ahLst/>
            <a:cxnLst/>
            <a:rect r="r" b="b" t="t" l="l"/>
            <a:pathLst>
              <a:path h="404352" w="706012">
                <a:moveTo>
                  <a:pt x="0" y="0"/>
                </a:moveTo>
                <a:lnTo>
                  <a:pt x="706012" y="0"/>
                </a:lnTo>
                <a:lnTo>
                  <a:pt x="706012" y="404352"/>
                </a:lnTo>
                <a:lnTo>
                  <a:pt x="0" y="4043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1927941"/>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FUTURE IMPROVMENTS</a:t>
            </a:r>
          </a:p>
        </p:txBody>
      </p:sp>
      <p:sp>
        <p:nvSpPr>
          <p:cNvPr name="TextBox 30" id="30"/>
          <p:cNvSpPr txBox="true"/>
          <p:nvPr/>
        </p:nvSpPr>
        <p:spPr>
          <a:xfrm rot="0">
            <a:off x="3142724" y="3362294"/>
            <a:ext cx="11564762" cy="1685925"/>
          </a:xfrm>
          <a:prstGeom prst="rect">
            <a:avLst/>
          </a:prstGeom>
        </p:spPr>
        <p:txBody>
          <a:bodyPr anchor="t" rtlCol="false" tIns="0" lIns="0" bIns="0" rIns="0">
            <a:spAutoFit/>
          </a:bodyPr>
          <a:lstStyle/>
          <a:p>
            <a:pPr algn="l" marL="647700" indent="-323850" lvl="1">
              <a:lnSpc>
                <a:spcPts val="4500"/>
              </a:lnSpc>
              <a:buFont typeface="Arial"/>
              <a:buChar char="•"/>
            </a:pPr>
            <a:r>
              <a:rPr lang="en-US" sz="3000">
                <a:solidFill>
                  <a:srgbClr val="0F1C29"/>
                </a:solidFill>
                <a:latin typeface="TT Fors"/>
                <a:ea typeface="TT Fors"/>
                <a:cs typeface="TT Fors"/>
                <a:sym typeface="TT Fors"/>
              </a:rPr>
              <a:t>Gps Tracker</a:t>
            </a:r>
          </a:p>
          <a:p>
            <a:pPr algn="l" marL="647700" indent="-323850" lvl="1">
              <a:lnSpc>
                <a:spcPts val="4500"/>
              </a:lnSpc>
              <a:buFont typeface="Arial"/>
              <a:buChar char="•"/>
            </a:pPr>
            <a:r>
              <a:rPr lang="en-US" sz="3000">
                <a:solidFill>
                  <a:srgbClr val="0F1C29"/>
                </a:solidFill>
                <a:latin typeface="TT Fors"/>
                <a:ea typeface="TT Fors"/>
                <a:cs typeface="TT Fors"/>
                <a:sym typeface="TT Fors"/>
              </a:rPr>
              <a:t>Mobile app version</a:t>
            </a:r>
          </a:p>
          <a:p>
            <a:pPr algn="l" marL="647700" indent="-323850" lvl="1">
              <a:lnSpc>
                <a:spcPts val="4500"/>
              </a:lnSpc>
              <a:buFont typeface="Arial"/>
              <a:buChar char="•"/>
            </a:pPr>
            <a:r>
              <a:rPr lang="en-US" sz="3000">
                <a:solidFill>
                  <a:srgbClr val="0F1C29"/>
                </a:solidFill>
                <a:latin typeface="TT Fors"/>
                <a:ea typeface="TT Fors"/>
                <a:cs typeface="TT Fors"/>
                <a:sym typeface="TT Fors"/>
              </a:rPr>
              <a:t>Notifications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1927941"/>
            <a:ext cx="15922990" cy="132391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TT Fors Bold"/>
                <a:ea typeface="TT Fors Bold"/>
                <a:cs typeface="TT Fors Bold"/>
                <a:sym typeface="TT Fors Bold"/>
              </a:rPr>
              <a:t>CONCLUSION</a:t>
            </a:r>
          </a:p>
        </p:txBody>
      </p:sp>
      <p:sp>
        <p:nvSpPr>
          <p:cNvPr name="TextBox 30" id="30"/>
          <p:cNvSpPr txBox="true"/>
          <p:nvPr/>
        </p:nvSpPr>
        <p:spPr>
          <a:xfrm rot="0">
            <a:off x="2577638" y="3681484"/>
            <a:ext cx="13132723" cy="2030730"/>
          </a:xfrm>
          <a:prstGeom prst="rect">
            <a:avLst/>
          </a:prstGeom>
        </p:spPr>
        <p:txBody>
          <a:bodyPr anchor="t" rtlCol="false" tIns="0" lIns="0" bIns="0" rIns="0">
            <a:spAutoFit/>
          </a:bodyPr>
          <a:lstStyle/>
          <a:p>
            <a:pPr algn="l">
              <a:lnSpc>
                <a:spcPts val="4050"/>
              </a:lnSpc>
            </a:pPr>
            <a:r>
              <a:rPr lang="en-US" sz="2700">
                <a:solidFill>
                  <a:srgbClr val="0F1C29"/>
                </a:solidFill>
                <a:latin typeface="TT Fors"/>
                <a:ea typeface="TT Fors"/>
                <a:cs typeface="TT Fors"/>
                <a:sym typeface="TT Fors"/>
              </a:rPr>
              <a:t>In conclusion, the Easy Bus Communal Web Application was successfully developed to improve communication between commuters and drivers. The system provides a simple and efficient way for users to send and manage transportation requests in real time.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3644544"/>
            <a:ext cx="15922990" cy="1971263"/>
          </a:xfrm>
          <a:prstGeom prst="rect">
            <a:avLst/>
          </a:prstGeom>
        </p:spPr>
        <p:txBody>
          <a:bodyPr anchor="t" rtlCol="false" tIns="0" lIns="0" bIns="0" rIns="0">
            <a:spAutoFit/>
          </a:bodyPr>
          <a:lstStyle/>
          <a:p>
            <a:pPr algn="ctr" marL="0" indent="0" lvl="0">
              <a:lnSpc>
                <a:spcPts val="16141"/>
              </a:lnSpc>
            </a:pPr>
            <a:r>
              <a:rPr lang="en-US" b="true" sz="11132">
                <a:solidFill>
                  <a:srgbClr val="3A73AE"/>
                </a:solidFill>
                <a:latin typeface="TT Fors Bold"/>
                <a:ea typeface="TT Fors Bold"/>
                <a:cs typeface="TT Fors Bold"/>
                <a:sym typeface="TT Fors Bold"/>
              </a:rPr>
              <a:t>THANK YOU</a:t>
            </a:r>
          </a:p>
        </p:txBody>
      </p:sp>
      <p:sp>
        <p:nvSpPr>
          <p:cNvPr name="TextBox 30" id="30"/>
          <p:cNvSpPr txBox="true"/>
          <p:nvPr/>
        </p:nvSpPr>
        <p:spPr>
          <a:xfrm rot="0">
            <a:off x="5875568" y="5747105"/>
            <a:ext cx="6536864" cy="1276350"/>
          </a:xfrm>
          <a:prstGeom prst="rect">
            <a:avLst/>
          </a:prstGeom>
        </p:spPr>
        <p:txBody>
          <a:bodyPr anchor="t" rtlCol="false" tIns="0" lIns="0" bIns="0" rIns="0">
            <a:spAutoFit/>
          </a:bodyPr>
          <a:lstStyle/>
          <a:p>
            <a:pPr algn="ctr">
              <a:lnSpc>
                <a:spcPts val="5249"/>
              </a:lnSpc>
            </a:pPr>
            <a:r>
              <a:rPr lang="en-US" sz="3499">
                <a:solidFill>
                  <a:srgbClr val="0F1C29"/>
                </a:solidFill>
                <a:latin typeface="TT Fors"/>
                <a:ea typeface="TT Fors"/>
                <a:cs typeface="TT Fors"/>
                <a:sym typeface="TT Fors"/>
              </a:rPr>
              <a:t>I will now proceed with the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DAHKQZcAiz8</dc:identifier>
  <dcterms:modified xsi:type="dcterms:W3CDTF">2011-08-01T06:04:30Z</dcterms:modified>
  <cp:revision>1</cp:revision>
  <dc:title>Easy Bus Presentation</dc:title>
</cp:coreProperties>
</file>